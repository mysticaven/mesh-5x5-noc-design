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000" b="1">
                <a:solidFill>
                  <a:srgbClr val="00A8CC"/>
                </a:solidFill>
              </a:defRPr>
            </a:pPr>
            <a:r>
              <a:t>2D Mesh Network-on-Chip (NoC)</a:t>
            </a:r>
          </a:p>
          <a:p>
            <a:pPr algn="l">
              <a:defRPr sz="1800">
                <a:solidFill>
                  <a:srgbClr val="FFFFFF"/>
                </a:solidFill>
              </a:defRPr>
            </a:pPr>
            <a:r>
              <a:t>SystemVerilog Architecture, Router Switching, and Simulation Analysis</a:t>
            </a:r>
          </a:p>
          <a:p>
            <a:br/>
            <a:pPr algn="l">
              <a:defRPr sz="1400">
                <a:solidFill>
                  <a:srgbClr val="AAAAAA"/>
                </a:solidFill>
              </a:defRPr>
            </a:pPr>
            <a:r>
              <a:t>Designed and Presented by Gowsh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A8CC"/>
                </a:solidFill>
              </a:defRPr>
            </a:pPr>
            <a:r>
              <a:t>1. Introduction: Why NoC?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B1D3A"/>
                </a:solidFill>
              </a:defRPr>
            </a:pPr>
            <a:r>
              <a:t>The Bus Limitation Problem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• Traditional shared buses (e.g. AMBA AHB) do not scale as IP cores count increase.</a:t>
            </a:r>
          </a:p>
          <a:p>
            <a:pPr>
              <a:spcAft>
                <a:spcPts val="2000"/>
              </a:spcAft>
              <a:defRPr sz="1600">
                <a:solidFill>
                  <a:srgbClr val="282828"/>
                </a:solidFill>
              </a:defRPr>
            </a:pPr>
            <a:r>
              <a:t>• Crossbar complexity grows quadratically O(N^2), causing routing and wiring bottlenecks.</a:t>
            </a:r>
          </a:p>
          <a:p>
            <a:pPr>
              <a:defRPr sz="2000" b="1">
                <a:solidFill>
                  <a:srgbClr val="0B1D3A"/>
                </a:solidFill>
              </a:defRPr>
            </a:pPr>
            <a:r>
              <a:t>NoC: The Scalable Grid Solution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• Replaces global buses with a structured local micro-network of switches/routers.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• Promotes concurrent transactions, leading to high aggregated network bandwidth.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A8CC"/>
                </a:solidFill>
              </a:defRPr>
            </a:pPr>
            <a:r>
              <a:t>2. Topology: 2D Mesh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82828"/>
                </a:solidFill>
              </a:defRPr>
            </a:pPr>
            <a:r>
              <a:t>• Grid Layout: Routers are organized in a 2D coordinate space (X, Y).</a:t>
            </a:r>
          </a:p>
          <a:p>
            <a:pPr>
              <a:spcAft>
                <a:spcPts val="1500"/>
              </a:spcAft>
              <a:defRPr sz="1600">
                <a:solidFill>
                  <a:srgbClr val="282828"/>
                </a:solidFill>
              </a:defRPr>
            </a:pPr>
            <a:r>
              <a:t>• Node Connections: Each router communicates with up to 4 neighbors (East, West, North, South) and 1 local Processing Element (PE).</a:t>
            </a:r>
          </a:p>
          <a:p>
            <a:pPr>
              <a:spcAft>
                <a:spcPts val="1500"/>
              </a:spcAft>
              <a:defRPr sz="1600">
                <a:solidFill>
                  <a:srgbClr val="282828"/>
                </a:solidFill>
              </a:defRPr>
            </a:pPr>
            <a:r>
              <a:t>• Bidirectional Links: Neighboring nodes are connected by dedicated pairs of forward and backward routing paths.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• Grid Address: Node coordinates represent its address. In this design, coordinates dest_x and dest_y are 2 bits each, mapping a 4x4 mesh (16 nodes, ID 0 to 15).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A8CC"/>
                </a:solidFill>
              </a:defRPr>
            </a:pPr>
            <a:r>
              <a:t>3. Switch Microarchitecture: 5x5 Router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82828"/>
                </a:solidFill>
              </a:defRPr>
            </a:pPr>
            <a:r>
              <a:t>• Port Configurations: 5 inputs and 5 outputs matching LOCAL, EAST, WEST, NORTH, and SOUTH interfaces.</a:t>
            </a:r>
          </a:p>
          <a:p>
            <a:pPr>
              <a:spcAft>
                <a:spcPts val="1500"/>
              </a:spcAft>
              <a:defRPr sz="1600">
                <a:solidFill>
                  <a:srgbClr val="282828"/>
                </a:solidFill>
              </a:defRPr>
            </a:pPr>
            <a:r>
              <a:t>• Elastic Input Buffer: A 1-entry register slice per input port stores packets dynamically. This breaks long physical wires and resolves combinational paths.</a:t>
            </a:r>
          </a:p>
          <a:p>
            <a:pPr>
              <a:spcAft>
                <a:spcPts val="1500"/>
              </a:spcAft>
              <a:defRPr sz="1600">
                <a:solidFill>
                  <a:srgbClr val="282828"/>
                </a:solidFill>
              </a:defRPr>
            </a:pPr>
            <a:r>
              <a:t>• Zero-Bubble Handshake: Handshaking logic implements a lookahead accept-release path. Ready goes high if a buffer is empty OR currently releasing data, allowing back-to-back single-cycle packet streaming.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• Crossbar MUX: Connects inputs to winning outputs combinatorially based on arbitrated grant permissions.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A8CC"/>
                </a:solidFill>
              </a:defRPr>
            </a:pPr>
            <a:r>
              <a:t>4. Routing Algorithm: XY Deterministic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82828"/>
                </a:solidFill>
              </a:defRPr>
            </a:pPr>
            <a:r>
              <a:t>• Routing Steps: Packet travels in X-direction horizontally until it hits column address, then Y-direction vertically, then Local interface.</a:t>
            </a:r>
          </a:p>
          <a:p>
            <a:pPr>
              <a:spcAft>
                <a:spcPts val="1500"/>
              </a:spcAft>
              <a:defRPr sz="1600">
                <a:solidFill>
                  <a:srgbClr val="282828"/>
                </a:solidFill>
              </a:defRPr>
            </a:pPr>
            <a:r>
              <a:t>• Deadlock Prevention: Deadlocks happen when packets get stuck in a cyclic loop. XY routing mathematically guarantees zero cyclic loops because turn transitions from Y back to X are strictly forbidden.</a:t>
            </a:r>
          </a:p>
          <a:p>
            <a:pPr>
              <a:spcAft>
                <a:spcPts val="1500"/>
              </a:spcAft>
              <a:defRPr sz="1600">
                <a:solidFill>
                  <a:srgbClr val="282828"/>
                </a:solidFill>
              </a:defRPr>
            </a:pPr>
            <a:r>
              <a:t>• Wire-Based Decoding: The destination port is calculated on-the-fly (combinatorially) by comparing coordinates, requiring no routing tables or register maps.</a:t>
            </a:r>
          </a:p>
          <a:p>
            <a:pPr>
              <a:defRPr sz="1600" b="1">
                <a:solidFill>
                  <a:srgbClr val="00A8CC"/>
                </a:solidFill>
              </a:defRPr>
            </a:pPr>
            <a:r>
              <a:t>• Packet format: [7:6] Dest X  |  [5:4] Dest Y  |  [3:0] Data Payload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A8CC"/>
                </a:solidFill>
              </a:defRPr>
            </a:pPr>
            <a:r>
              <a:t>5. Flow Control &amp; Arbitration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82828"/>
                </a:solidFill>
              </a:defRPr>
            </a:pPr>
            <a:r>
              <a:t>• Valid-Ready Protocol: Data transfer happens on rising clock edge if and only if both Valid (transmitter has data) and Ready (receiver is free) are high.</a:t>
            </a:r>
          </a:p>
          <a:p>
            <a:pPr>
              <a:spcAft>
                <a:spcPts val="1500"/>
              </a:spcAft>
              <a:defRPr sz="1600">
                <a:solidFill>
                  <a:srgbClr val="282828"/>
                </a:solidFill>
              </a:defRPr>
            </a:pPr>
            <a:r>
              <a:t>• Round-Robin Allocation: A dynamic round-robin arbiter manages collision control when multiple input ports compete for the same output port, rotating priority pointers to avoid starving nodes.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• Backpressure Propagation: When a receiver (PE) deasserts ready, the local router buffer fills up, deasserts its incoming ready ports, propagating stall states backward without loss of packet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A8CC"/>
                </a:solidFill>
              </a:defRPr>
            </a:pPr>
            <a:r>
              <a:t>6. Verification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8A745"/>
                </a:solidFill>
              </a:defRPr>
            </a:pPr>
            <a:r>
              <a:t>Exhaustive Simulation Campaigns (All Tests Passed)</a:t>
            </a:r>
          </a:p>
          <a:p>
            <a:pPr>
              <a:spcAft>
                <a:spcPts val="1000"/>
              </a:spcAft>
              <a:defRPr sz="1500">
                <a:solidFill>
                  <a:srgbClr val="282828"/>
                </a:solidFill>
              </a:defRPr>
            </a:pPr>
            <a:r>
              <a:t>• 16x16 Directed Test: Checked all 240 combinations of source-destination node coordinates. 100% of packets routed successfully.</a:t>
            </a:r>
          </a:p>
          <a:p>
            <a:pPr>
              <a:spcAft>
                <a:spcPts val="1000"/>
              </a:spcAft>
              <a:defRPr sz="1500">
                <a:solidFill>
                  <a:srgbClr val="282828"/>
                </a:solidFill>
              </a:defRPr>
            </a:pPr>
            <a:r>
              <a:t>• Single Destination Congestion: Flooded Destination 15 from 15 sources simultaneously. Verified round-robin fairness and correct flow control.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• 20,000 Packet Random Stress Test: Ran continuous packet streams with randomized destinations and randomized receiver backpressures. All 20,000 packets were delivered with zero drops or deadlocks.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A8CC"/>
                </a:solidFill>
              </a:defRPr>
            </a:pPr>
            <a:r>
              <a:t>Thank You!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